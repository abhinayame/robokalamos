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oadmap" id="{2bbc4ca4-f686-f827-20b1-469dc03bc504}">
          <p14:sldIdLst>
            <p14:sldId id="257"/>
          </p14:sldIdLst>
        </p14:section>
        <p14:section name="Part 1 · Understand" id="{6de1e4ce-67f0-cdbc-daaf-8b1a0b9726e2}">
          <p14:sldIdLst>
            <p14:sldId id="258"/>
            <p14:sldId id="259"/>
            <p14:sldId id="260"/>
            <p14:sldId id="261"/>
            <p14:sldId id="262"/>
          </p14:sldIdLst>
        </p14:section>
        <p14:section name="Part 2 · Set up" id="{283bdafd-9206-719c-f152-6b68d9a15e4d}">
          <p14:sldIdLst>
            <p14:sldId id="263"/>
            <p14:sldId id="264"/>
            <p14:sldId id="265"/>
          </p14:sldIdLst>
        </p14:section>
        <p14:section name="Part 3 · Learn the code" id="{27df0071-325f-cec2-25f4-80712f6d90b8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art 4 · Build a feature" id="{fde0b614-a226-04a3-1cd6-141e17121470}">
          <p14:sldIdLst>
            <p14:sldId id="272"/>
            <p14:sldId id="273"/>
            <p14:sldId id="274"/>
          </p14:sldIdLst>
        </p14:section>
        <p14:section name="Part 5 · Check" id="{89a4bafd-665d-279e-e641-e2a5a7843a18}">
          <p14:sldIdLst>
            <p14:sldId id="275"/>
            <p14:sldId id="276"/>
            <p14:sldId id="277"/>
            <p14:sldId id="278"/>
          </p14:sldIdLst>
        </p14:section>
        <p14:section name="Part 6 · Ship" id="{2e856ebc-1671-7bc6-296e-51ed204d5361}">
          <p14:sldIdLst>
            <p14:sldId id="279"/>
            <p14:sldId id="280"/>
            <p14:sldId id="281"/>
            <p14:sldId id="282"/>
            <p14:sldId id="283"/>
          </p14:sldIdLst>
        </p14:section>
        <p14:section name="Default-1" id="{fa83505d-6ff8-f67c-5a72-21e7224f1176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guide takes about a week at a relaxed pace. Do one part per day and keep the app running while you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parts. Each ends with something you can do, not just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operating system for every learner.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come straight from the product brief. A pull request that breaks one of them will not be merged.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ORM on purpose: SQL is explicit and reviewable.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Node process serves both the API and the built web app. Workers run inside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folder first, then the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MariaDB or MySQL. The test database name must end in _test.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Migrations are plain SQL files applied in order and recorded in schema_migrations.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Switching roles is the fastest way to understand permissions.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app.ts and read the middleware in the order they are mounted.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Parameterized SQL only. Never build SQL with string concatenation of user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Out-of-scope reads return 404, not 403, so the existence of a record is never leaked.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Short-lived access token plus a rotating single-use refresh 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permission code is the contract between database, API and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engine powers filters, exports, bulk changes and WhatsApp audiences.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a simple "tags" style resource. Follow the same order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Simplified from modules/crm/tags.ts.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Always render loading, error and empty states. Never invent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Tests run against a real MariaDB database that is dropped and recreated every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request id turns "it broke" into one log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Tick every box in your PR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from a local test with 100,121 learners and 800,968 attendance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pull requests get reviewed faster and break 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Details are in docs/DEPLOYMENT.md and docs/RUNBOOK.md.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one cost real debugging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 with a teammate on day 3 and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the docs before asking, then ask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Robokalam Learner OS  ·  Developer guide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"/>
          <p:cNvSpPr/>
          <p:nvPr/>
        </p:nvSpPr>
        <p:spPr>
          <a:xfrm>
            <a:off x="8503920" y="822960"/>
            <a:ext cx="4572000" cy="457200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2700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3" name="Motif 2"/>
          <p:cNvSpPr/>
          <p:nvPr/>
        </p:nvSpPr>
        <p:spPr>
          <a:xfrm>
            <a:off x="9875520" y="3383280"/>
            <a:ext cx="2926080" cy="2926080"/>
          </a:xfrm>
          <a:prstGeom prst="ellipse">
            <a:avLst/>
          </a:prstGeom>
          <a:solidFill>
            <a:schemeClr val="accent2">
              <a:alpha val="25000"/>
            </a:schemeClr>
          </a:solidFill>
          <a:ln w="12700">
            <a:solidFill>
              <a:schemeClr val="accent2">
                <a:alpha val="2500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DEVELOPER ONBOARDING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Robokalam Learner OS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54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 step-by-step guide for junior software developers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From a clean laptop to your first merged pull request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Covers Phases 1-9  ·  Node + TypeScript  ·  React  ·  MySQL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to use this guide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35661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tep 1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920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Understand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060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What the product does and the five rules behind it</a:t>
            </a:r>
            <a:endParaRPr lang="en-US" sz="1600" dirty="0"/>
          </a:p>
        </p:txBody>
      </p:sp>
      <p:sp>
        <p:nvSpPr>
          <p:cNvPr id="10" name="Card"/>
          <p:cNvSpPr/>
          <p:nvPr/>
        </p:nvSpPr>
        <p:spPr>
          <a:xfrm>
            <a:off x="4297680" y="1645920"/>
            <a:ext cx="35661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tep 2"/>
          <p:cNvSpPr/>
          <p:nvPr/>
        </p:nvSpPr>
        <p:spPr>
          <a:xfrm>
            <a:off x="452628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1920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Set up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6060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Run the app and all tests on your laptop</a:t>
            </a:r>
            <a:endParaRPr lang="en-US" sz="1600" dirty="0"/>
          </a:p>
        </p:txBody>
      </p:sp>
      <p:sp>
        <p:nvSpPr>
          <p:cNvPr id="15" name="Card"/>
          <p:cNvSpPr/>
          <p:nvPr/>
        </p:nvSpPr>
        <p:spPr>
          <a:xfrm>
            <a:off x="8046720" y="1645920"/>
            <a:ext cx="35661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tep 3"/>
          <p:cNvSpPr/>
          <p:nvPr/>
        </p:nvSpPr>
        <p:spPr>
          <a:xfrm>
            <a:off x="827532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915400" y="1920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Learn the code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26060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Request flow, database, auth, permissions</a:t>
            </a:r>
            <a:endParaRPr lang="en-US" sz="1600" dirty="0"/>
          </a:p>
        </p:txBody>
      </p:sp>
      <p:sp>
        <p:nvSpPr>
          <p:cNvPr id="20" name="Card"/>
          <p:cNvSpPr/>
          <p:nvPr/>
        </p:nvSpPr>
        <p:spPr>
          <a:xfrm>
            <a:off x="548640" y="3794760"/>
            <a:ext cx="35661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tep 4"/>
          <p:cNvSpPr/>
          <p:nvPr/>
        </p:nvSpPr>
        <p:spPr>
          <a:xfrm>
            <a:off x="777240" y="4023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772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417320" y="4069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Build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4754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Add a small feature end to end</a:t>
            </a:r>
            <a:endParaRPr lang="en-US" sz="1600" dirty="0"/>
          </a:p>
        </p:txBody>
      </p:sp>
      <p:sp>
        <p:nvSpPr>
          <p:cNvPr id="25" name="Card"/>
          <p:cNvSpPr/>
          <p:nvPr/>
        </p:nvSpPr>
        <p:spPr>
          <a:xfrm>
            <a:off x="4297680" y="3794760"/>
            <a:ext cx="35661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tep 5"/>
          <p:cNvSpPr/>
          <p:nvPr/>
        </p:nvSpPr>
        <p:spPr>
          <a:xfrm>
            <a:off x="4526280" y="4023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628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166360" y="4069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Check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4754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Test, debug, secure, make it fast</a:t>
            </a:r>
            <a:endParaRPr lang="en-US" sz="1600" dirty="0"/>
          </a:p>
        </p:txBody>
      </p:sp>
      <p:sp>
        <p:nvSpPr>
          <p:cNvPr id="30" name="Card"/>
          <p:cNvSpPr/>
          <p:nvPr/>
        </p:nvSpPr>
        <p:spPr>
          <a:xfrm>
            <a:off x="8046720" y="3794760"/>
            <a:ext cx="35661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tep 6"/>
          <p:cNvSpPr/>
          <p:nvPr/>
        </p:nvSpPr>
        <p:spPr>
          <a:xfrm>
            <a:off x="8275320" y="4023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753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8915400" y="4069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Ship</a:t>
            </a:r>
            <a:endParaRPr lang="en-US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8275320" y="4754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Pull request, deploy, backups, on-call basics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Tip: keep the app running on the side and try every step yourself.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1 · UNDERSTAND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are we building?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 multi-tenant SaaS for Robokalam and other Indian education organizations.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Each organization gets its own isolated data: learners, batches, classrooms, scores, parents, leads and WhatsApp messages.</a:t>
            </a:r>
            <a:endParaRPr lang="en-US" sz="1800" dirty="0"/>
          </a:p>
        </p:txBody>
      </p:sp>
      <p:sp>
        <p:nvSpPr>
          <p:cNvPr id="6" name="Card"/>
          <p:cNvSpPr/>
          <p:nvPr/>
        </p:nvSpPr>
        <p:spPr>
          <a:xfrm>
            <a:off x="548640" y="4572000"/>
            <a:ext cx="3749040" cy="13716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4754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Live at os.robokalam.in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2120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9 phases built: foundation to production hardening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663440" y="1645920"/>
            <a:ext cx="233172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Organizations &amp; ro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82880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84632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Organizations &amp; roles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7178040" y="1645920"/>
            <a:ext cx="233172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1" descr="Learners &amp; batch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82880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36092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Learners &amp; batches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9692640" y="1645920"/>
            <a:ext cx="233172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2" descr="Classroom &amp; assign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182880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87552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Classroom &amp; assignments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4663440" y="3108960"/>
            <a:ext cx="233172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Scores &amp; grade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291840"/>
            <a:ext cx="457200" cy="4572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484632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Scores &amp; gradebook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7178040" y="3108960"/>
            <a:ext cx="233172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XP, badges, leader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3291840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36092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XP, badges, leaderboard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9692640" y="3108960"/>
            <a:ext cx="233172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5" name="Image 5" descr="Attendance &amp; parent port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0" y="3291840"/>
            <a:ext cx="457200" cy="4572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987552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Attendance &amp; parent portal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4663440" y="4572000"/>
            <a:ext cx="233172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6" descr="CRM &amp; follow-up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4754880"/>
            <a:ext cx="457200" cy="45720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4846320" y="5303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CRM &amp; follow-ups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178040" y="4572000"/>
            <a:ext cx="233172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1" name="Image 7" descr="WhatsApp &amp; announce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60920" y="4754880"/>
            <a:ext cx="457200" cy="457200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7360920" y="5303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WhatsApp &amp; announcements</a:t>
            </a:r>
            <a:endParaRPr lang="en-US" sz="1500" dirty="0"/>
          </a:p>
        </p:txBody>
      </p:sp>
      <p:sp>
        <p:nvSpPr>
          <p:cNvPr id="33" name="Card"/>
          <p:cNvSpPr/>
          <p:nvPr/>
        </p:nvSpPr>
        <p:spPr>
          <a:xfrm>
            <a:off x="9692640" y="4572000"/>
            <a:ext cx="233172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4" name="Image 8" descr="Analytics &amp; repor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75520" y="4754880"/>
            <a:ext cx="457200" cy="45720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9875520" y="5303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Analytics &amp; reports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1 · UNDERSTAND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Five rules that shape every line of code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Step 1"/>
          <p:cNvSpPr/>
          <p:nvPr/>
        </p:nvSpPr>
        <p:spPr>
          <a:xfrm>
            <a:off x="731520" y="17830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70992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One learner = one master profile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170992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Batches are memberships (learner_batch_memberships), never copies of the learner.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2532888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Step 2"/>
          <p:cNvSpPr/>
          <p:nvPr/>
        </p:nvSpPr>
        <p:spPr>
          <a:xfrm>
            <a:off x="731520" y="27157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264261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Dedupe by learner_id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642616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Learner in 3 selected batches = counted, messaged and exported once.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548640" y="3465576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Step 3"/>
          <p:cNvSpPr/>
          <p:nvPr/>
        </p:nvSpPr>
        <p:spPr>
          <a:xfrm>
            <a:off x="731520" y="36484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357530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Everything belongs to an organization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3575304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Isolation is enforced in SQL and by composite foreign keys.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4398264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1" name="Step 4"/>
          <p:cNvSpPr/>
          <p:nvPr/>
        </p:nvSpPr>
        <p:spPr>
          <a:xfrm>
            <a:off x="731520" y="458114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417320" y="45079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Permissions, audit log, soft delete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0" y="4507992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Who may do it, who did it, and nothing is really erased.</a:t>
            </a:r>
            <a:endParaRPr lang="en-US" sz="1500" dirty="0"/>
          </a:p>
        </p:txBody>
      </p:sp>
      <p:sp>
        <p:nvSpPr>
          <p:cNvPr id="25" name="Card"/>
          <p:cNvSpPr/>
          <p:nvPr/>
        </p:nvSpPr>
        <p:spPr>
          <a:xfrm>
            <a:off x="548640" y="5330952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Step 5"/>
          <p:cNvSpPr/>
          <p:nvPr/>
        </p:nvSpPr>
        <p:spPr>
          <a:xfrm>
            <a:off x="731520" y="551383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5513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17320" y="5440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No fake functionality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0" y="544068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No static dashboards, no buttons that do nothing: every number comes from the database.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1 · UNDERSTAND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tech stack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Backend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Node 22 + TypeScript (ESM)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Express 5, zod 4 validation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mysql2/promise: plain SQL, no ORM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JWT + bcryptjs, helmet, rate limits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pino structured logs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172200" y="160020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465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Frontend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2240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React 19 + Vite + react-router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Hand-written CSS design system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One small API client (api.ts)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Responsive: phone, tablet, desktop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Role-aware navigation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548640" y="397764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2296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6177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MySQL 8 / MariaDB 10.6+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Numbered SQL migrations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UUID primary keys, org_id everywhere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Generated columns for unique rules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Covering indexes for reports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6172200" y="397764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465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Quality &amp; ops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6177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vitest + supertest on a real DB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Playwright browser flows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Postman / newman collection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Encrypted backups + restore drill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Hostinger Node app, Git deploy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1 · UNDERSTAND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the pieces fit together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2194560"/>
            <a:ext cx="2377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2331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Browser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88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React app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(learner, parent, staff)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840480" y="18288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977640" y="1965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Express API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977640" y="242316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One Node process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routes · RBAC · validation · audit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also serves the built web app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778240" y="2194560"/>
            <a:ext cx="28346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915400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MySQL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7889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all data, uploads,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migrations</a:t>
            </a:r>
            <a:endParaRPr lang="en-US" sz="1400" dirty="0"/>
          </a:p>
        </p:txBody>
      </p:sp>
      <p:sp>
        <p:nvSpPr>
          <p:cNvPr id="14" name="Arrow"/>
          <p:cNvSpPr/>
          <p:nvPr/>
        </p:nvSpPr>
        <p:spPr>
          <a:xfrm>
            <a:off x="2926080" y="2788920"/>
            <a:ext cx="91440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Arrow"/>
          <p:cNvSpPr/>
          <p:nvPr/>
        </p:nvSpPr>
        <p:spPr>
          <a:xfrm>
            <a:off x="3840480" y="3246120"/>
            <a:ext cx="-91440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6" name="Arrow"/>
          <p:cNvSpPr/>
          <p:nvPr/>
        </p:nvSpPr>
        <p:spPr>
          <a:xfrm>
            <a:off x="7863840" y="2788920"/>
            <a:ext cx="91440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7" name="Arrow"/>
          <p:cNvSpPr/>
          <p:nvPr/>
        </p:nvSpPr>
        <p:spPr>
          <a:xfrm>
            <a:off x="8778240" y="3246120"/>
            <a:ext cx="-91440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926080" y="33101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HTTPS</a:t>
            </a:r>
            <a:endParaRPr lang="en-US" sz="1200" dirty="0"/>
          </a:p>
        </p:txBody>
      </p:sp>
      <p:sp>
        <p:nvSpPr>
          <p:cNvPr id="19" name="Card"/>
          <p:cNvSpPr/>
          <p:nvPr/>
        </p:nvSpPr>
        <p:spPr>
          <a:xfrm>
            <a:off x="3840480" y="4846320"/>
            <a:ext cx="40233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336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Background workers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5349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Same process: WhatsApp sender, cleanup job</a:t>
            </a:r>
            <a:endParaRPr lang="en-US" sz="1400" dirty="0"/>
          </a:p>
        </p:txBody>
      </p:sp>
      <p:sp>
        <p:nvSpPr>
          <p:cNvPr id="22" name="Arrow"/>
          <p:cNvSpPr/>
          <p:nvPr/>
        </p:nvSpPr>
        <p:spPr>
          <a:xfrm>
            <a:off x="5852160" y="4206240"/>
            <a:ext cx="0" cy="64008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Card"/>
          <p:cNvSpPr/>
          <p:nvPr/>
        </p:nvSpPr>
        <p:spPr>
          <a:xfrm>
            <a:off x="8778240" y="4846320"/>
            <a:ext cx="28346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61120" y="4937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AiSensy (external)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961120" y="53492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sends WhatsApp, calls our webhook</a:t>
            </a:r>
            <a:endParaRPr lang="en-US" sz="1400" dirty="0"/>
          </a:p>
        </p:txBody>
      </p:sp>
      <p:sp>
        <p:nvSpPr>
          <p:cNvPr id="26" name="Arrow"/>
          <p:cNvSpPr/>
          <p:nvPr/>
        </p:nvSpPr>
        <p:spPr>
          <a:xfrm>
            <a:off x="7863840" y="5440680"/>
            <a:ext cx="91440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1 · UNDERSTAND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Where things live</a:t>
            </a:r>
            <a:endParaRPr lang="en-US" sz="3400" dirty="0"/>
          </a:p>
        </p:txBody>
      </p:sp>
      <p:sp>
        <p:nvSpPr>
          <p:cNvPr id="5" name="Code block"/>
          <p:cNvSpPr/>
          <p:nvPr/>
        </p:nvSpPr>
        <p:spPr>
          <a:xfrm>
            <a:off x="548640" y="1600200"/>
            <a:ext cx="6766560" cy="4480560"/>
          </a:xfrm>
          <a:prstGeom prst="roundRect">
            <a:avLst>
              <a:gd name="adj" fmla="val 122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ode text"/>
          <p:cNvSpPr txBox="1"/>
          <p:nvPr/>
        </p:nvSpPr>
        <p:spPr>
          <a:xfrm>
            <a:off x="731520" y="1737360"/>
            <a:ext cx="6400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robokalamos/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server/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src/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│  ├─ app.ts            middleware + routers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│  ├─ modules/&lt;feature&gt;/routes.ts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│  ├─ lib/              audit, scope, security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│  ├─ middleware/       auth, csrf, limits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│  └─ db/pool.ts        query, exec, tx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migrations/NNN_*.sql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├─ tests/               vitest suites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└─ dev/                 seed + perf scripts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web/src/  pages/ components/ api.ts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architecture + runbooks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postman/  collection + environment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1600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Rules of thumb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103120"/>
            <a:ext cx="3931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One feature = one folder in server/src/modules.</a:t>
            </a:r>
            <a:endParaRPr lang="en-US" sz="18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Shared helpers go in lib/, never copy-pasted.</a:t>
            </a:r>
            <a:endParaRPr lang="en-US" sz="18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 merged migration is never edited: add a new numbered one.</a:t>
            </a:r>
            <a:endParaRPr lang="en-US" sz="18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Every page in web/src/pages maps to a route in App.tsx.</a:t>
            </a:r>
            <a:endParaRPr lang="en-US" sz="18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docs/ is the source of truth for design decisions.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2 · SET UP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Step 1-4: get the code and a database</a:t>
            </a:r>
            <a:endParaRPr lang="en-US" sz="3400" dirty="0"/>
          </a:p>
        </p:txBody>
      </p:sp>
      <p:sp>
        <p:nvSpPr>
          <p:cNvPr id="5" name="Step 1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62763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Install Node 22, Git and MySQL 8 (or MariaDB 10.6+)</a:t>
            </a:r>
            <a:endParaRPr lang="en-US" sz="1700" dirty="0"/>
          </a:p>
        </p:txBody>
      </p:sp>
      <p:sp>
        <p:nvSpPr>
          <p:cNvPr id="8" name="Step 2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58775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Clone and install: one command installs server + web</a:t>
            </a:r>
            <a:endParaRPr lang="en-US" sz="1700" dirty="0"/>
          </a:p>
        </p:txBody>
      </p:sp>
      <p:sp>
        <p:nvSpPr>
          <p:cNvPr id="11" name="Step 3"/>
          <p:cNvSpPr/>
          <p:nvPr/>
        </p:nvSpPr>
        <p:spPr>
          <a:xfrm>
            <a:off x="548640" y="3566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54787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Create a database and a user</a:t>
            </a:r>
            <a:endParaRPr lang="en-US" sz="1700" dirty="0"/>
          </a:p>
        </p:txBody>
      </p:sp>
      <p:sp>
        <p:nvSpPr>
          <p:cNvPr id="14" name="Step 4"/>
          <p:cNvSpPr/>
          <p:nvPr/>
        </p:nvSpPr>
        <p:spPr>
          <a:xfrm>
            <a:off x="548640" y="45262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450799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Copy the env file, set DATABASE_URL and JWT_SECRET</a:t>
            </a:r>
            <a:endParaRPr lang="en-US" sz="1700" dirty="0"/>
          </a:p>
        </p:txBody>
      </p:sp>
      <p:sp>
        <p:nvSpPr>
          <p:cNvPr id="17" name="Code block"/>
          <p:cNvSpPr/>
          <p:nvPr/>
        </p:nvSpPr>
        <p:spPr>
          <a:xfrm>
            <a:off x="5669280" y="1600200"/>
            <a:ext cx="5943600" cy="4023360"/>
          </a:xfrm>
          <a:prstGeom prst="roundRect">
            <a:avLst>
              <a:gd name="adj" fmla="val 13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Code text"/>
          <p:cNvSpPr txBox="1"/>
          <p:nvPr/>
        </p:nvSpPr>
        <p:spPr>
          <a:xfrm>
            <a:off x="5852160" y="1737360"/>
            <a:ext cx="5577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https://github.com/abhinayame/robokalamOS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robokalamOS &amp;&amp; npm install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mysql -u root -p -e 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 DATABASE rk_dev CHARACTER SET utf8mb4;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 USER 'rk'@'localhost' IDENTIFIED BY 'rk_dev_pw';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GRANT ALL ON rk_dev.* TO 'rk'@'localhost';"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server/.env.example server/.env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DATABASE_URL=mysql://rk:rk_dev_pw@127.0.0.1:3306/rk_dev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JWT_SECRET=&lt;48+ random characters&gt;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57607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Never commit server/.env. It is already in .gitignore.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2 · SET UP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Step 5-9: migrate, seed, run, verify</a:t>
            </a:r>
            <a:endParaRPr lang="en-US" sz="3400" dirty="0"/>
          </a:p>
        </p:txBody>
      </p:sp>
      <p:sp>
        <p:nvSpPr>
          <p:cNvPr id="5" name="Step 5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5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554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Apply all SQL migrations</a:t>
            </a:r>
            <a:endParaRPr lang="en-US" sz="1600" dirty="0"/>
          </a:p>
        </p:txBody>
      </p:sp>
      <p:sp>
        <p:nvSpPr>
          <p:cNvPr id="8" name="Step 6"/>
          <p:cNvSpPr/>
          <p:nvPr/>
        </p:nvSpPr>
        <p:spPr>
          <a:xfrm>
            <a:off x="548640" y="2468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6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4231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Create the platform owner (needs SUPER_ADMIN_EMAIL / PASSWORD in .env)</a:t>
            </a:r>
            <a:endParaRPr lang="en-US" sz="1600" dirty="0"/>
          </a:p>
        </p:txBody>
      </p:sp>
      <p:sp>
        <p:nvSpPr>
          <p:cNvPr id="11" name="Step 7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7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918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Optional: demo organization with realistic data (dev only)</a:t>
            </a:r>
            <a:endParaRPr lang="en-US" sz="1600" dirty="0"/>
          </a:p>
        </p:txBody>
      </p:sp>
      <p:sp>
        <p:nvSpPr>
          <p:cNvPr id="14" name="Step 8"/>
          <p:cNvSpPr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8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Start API (:4000) and web (:5173) in two terminals</a:t>
            </a:r>
            <a:endParaRPr lang="en-US" sz="1600" dirty="0"/>
          </a:p>
        </p:txBody>
      </p:sp>
      <p:sp>
        <p:nvSpPr>
          <p:cNvPr id="17" name="Step 9"/>
          <p:cNvSpPr/>
          <p:nvPr/>
        </p:nvSpPr>
        <p:spPr>
          <a:xfrm>
            <a:off x="548640" y="5074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9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502920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Verify the health endpoint, then open the app</a:t>
            </a:r>
            <a:endParaRPr lang="en-US" sz="1600" dirty="0"/>
          </a:p>
        </p:txBody>
      </p:sp>
      <p:sp>
        <p:nvSpPr>
          <p:cNvPr id="20" name="Code block"/>
          <p:cNvSpPr/>
          <p:nvPr/>
        </p:nvSpPr>
        <p:spPr>
          <a:xfrm>
            <a:off x="5943600" y="1600200"/>
            <a:ext cx="5669280" cy="3931920"/>
          </a:xfrm>
          <a:prstGeom prst="roundRect">
            <a:avLst>
              <a:gd name="adj" fmla="val 139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Code text"/>
          <p:cNvSpPr txBox="1"/>
          <p:nvPr/>
        </p:nvSpPr>
        <p:spPr>
          <a:xfrm>
            <a:off x="6126480" y="173736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seed -w server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seed:demo -w server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dev:server     # terminal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dev:web        # terminal 2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localhost:4000/api/health/ready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{"ok":true,"data":{"status":"ready",...}}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http://localhost:5173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5943600" y="5669280"/>
            <a:ext cx="566928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26480" y="5760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Stuck? Read the first error line; it names the missing variable.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2 · SET UP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Log in as every role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937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Role</a:t>
                      </a:r>
                      <a:endParaRPr lang="en-US" sz="15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Email (dev demo)</a:t>
                      </a:r>
                      <a:endParaRPr lang="en-US" sz="15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What to look for</a:t>
                      </a:r>
                      <a:endParaRPr lang="en-US" sz="15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Platform owner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owner@robokalam.test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Organizations menu; works inside one org at a time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Org admin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admin@demo.robokalam.test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Everything in the organization, incl. System Status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Teacher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teacher1@demo.robokalam.test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Only assigned batches, classroom tools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Learner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aarav@demo.robokalam.test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Own classes, assignments, XP, badges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Parent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parent@demo.robokalam.test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Child's progress, read-only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4406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Demo password (development only): Demo-Pass-12345.  Never reuse it on a real server.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3 · LEARN THE CODE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Life of a request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tep 1"/>
          <p:cNvSpPr/>
          <p:nvPr/>
        </p:nvSpPr>
        <p:spPr>
          <a:xfrm>
            <a:off x="685800" y="1783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observe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request id, access log</a:t>
            </a:r>
            <a:endParaRPr lang="en-US" sz="1400" dirty="0"/>
          </a:p>
        </p:txBody>
      </p:sp>
      <p:sp>
        <p:nvSpPr>
          <p:cNvPr id="10" name="Arrow"/>
          <p:cNvSpPr/>
          <p:nvPr/>
        </p:nvSpPr>
        <p:spPr>
          <a:xfrm>
            <a:off x="3017520" y="2331720"/>
            <a:ext cx="3657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1" name="Card"/>
          <p:cNvSpPr/>
          <p:nvPr/>
        </p:nvSpPr>
        <p:spPr>
          <a:xfrm>
            <a:off x="3383280" y="164592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tep 2"/>
          <p:cNvSpPr/>
          <p:nvPr/>
        </p:nvSpPr>
        <p:spPr>
          <a:xfrm>
            <a:off x="3520440" y="1783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2044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helmet · CORS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headers, compression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5852160" y="2331720"/>
            <a:ext cx="3657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7" name="Card"/>
          <p:cNvSpPr/>
          <p:nvPr/>
        </p:nvSpPr>
        <p:spPr>
          <a:xfrm>
            <a:off x="6217920" y="164592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tep 3"/>
          <p:cNvSpPr/>
          <p:nvPr/>
        </p:nvSpPr>
        <p:spPr>
          <a:xfrm>
            <a:off x="6355080" y="1783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5508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35508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rate limit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per user or IP</a:t>
            </a:r>
            <a:endParaRPr lang="en-US" sz="1400" dirty="0"/>
          </a:p>
        </p:txBody>
      </p:sp>
      <p:sp>
        <p:nvSpPr>
          <p:cNvPr id="22" name="Arrow"/>
          <p:cNvSpPr/>
          <p:nvPr/>
        </p:nvSpPr>
        <p:spPr>
          <a:xfrm>
            <a:off x="8686800" y="2331720"/>
            <a:ext cx="3657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Card"/>
          <p:cNvSpPr/>
          <p:nvPr/>
        </p:nvSpPr>
        <p:spPr>
          <a:xfrm>
            <a:off x="9052560" y="164592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tep 4"/>
          <p:cNvSpPr/>
          <p:nvPr/>
        </p:nvSpPr>
        <p:spPr>
          <a:xfrm>
            <a:off x="9189720" y="1783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18972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918972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authenticate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918972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JWT + live session</a:t>
            </a:r>
            <a:endParaRPr lang="en-US" sz="1400" dirty="0"/>
          </a:p>
        </p:txBody>
      </p:sp>
      <p:sp>
        <p:nvSpPr>
          <p:cNvPr id="28" name="Card"/>
          <p:cNvSpPr/>
          <p:nvPr/>
        </p:nvSpPr>
        <p:spPr>
          <a:xfrm>
            <a:off x="548640" y="3383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tep 5"/>
          <p:cNvSpPr/>
          <p:nvPr/>
        </p:nvSpPr>
        <p:spPr>
          <a:xfrm>
            <a:off x="685800" y="35204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8580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requirePerm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RBAC check</a:t>
            </a:r>
            <a:endParaRPr lang="en-US" sz="1400" dirty="0"/>
          </a:p>
        </p:txBody>
      </p:sp>
      <p:sp>
        <p:nvSpPr>
          <p:cNvPr id="33" name="Arrow"/>
          <p:cNvSpPr/>
          <p:nvPr/>
        </p:nvSpPr>
        <p:spPr>
          <a:xfrm>
            <a:off x="3017520" y="4069080"/>
            <a:ext cx="3657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4" name="Card"/>
          <p:cNvSpPr/>
          <p:nvPr/>
        </p:nvSpPr>
        <p:spPr>
          <a:xfrm>
            <a:off x="3383280" y="3383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tep 6"/>
          <p:cNvSpPr/>
          <p:nvPr/>
        </p:nvSpPr>
        <p:spPr>
          <a:xfrm>
            <a:off x="3520440" y="35204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52044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52044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parse (zod)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35204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validate input</a:t>
            </a:r>
            <a:endParaRPr lang="en-US" sz="1400" dirty="0"/>
          </a:p>
        </p:txBody>
      </p:sp>
      <p:sp>
        <p:nvSpPr>
          <p:cNvPr id="39" name="Arrow"/>
          <p:cNvSpPr/>
          <p:nvPr/>
        </p:nvSpPr>
        <p:spPr>
          <a:xfrm>
            <a:off x="5852160" y="4069080"/>
            <a:ext cx="3657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0" name="Card"/>
          <p:cNvSpPr/>
          <p:nvPr/>
        </p:nvSpPr>
        <p:spPr>
          <a:xfrm>
            <a:off x="6217920" y="3383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tep 7"/>
          <p:cNvSpPr/>
          <p:nvPr/>
        </p:nvSpPr>
        <p:spPr>
          <a:xfrm>
            <a:off x="6355080" y="352044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355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7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35508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handler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635508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SQL + audit</a:t>
            </a:r>
            <a:endParaRPr lang="en-US" sz="1400" dirty="0"/>
          </a:p>
        </p:txBody>
      </p:sp>
      <p:sp>
        <p:nvSpPr>
          <p:cNvPr id="45" name="Arrow"/>
          <p:cNvSpPr/>
          <p:nvPr/>
        </p:nvSpPr>
        <p:spPr>
          <a:xfrm>
            <a:off x="8686800" y="4069080"/>
            <a:ext cx="3657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6" name="Card"/>
          <p:cNvSpPr/>
          <p:nvPr/>
        </p:nvSpPr>
        <p:spPr>
          <a:xfrm>
            <a:off x="9052560" y="3383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7" name="Step 8"/>
          <p:cNvSpPr/>
          <p:nvPr/>
        </p:nvSpPr>
        <p:spPr>
          <a:xfrm>
            <a:off x="9189720" y="35204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18972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8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918972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ok() / error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918972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JSON envelope</a:t>
            </a:r>
            <a:endParaRPr lang="en-US" sz="1400" dirty="0"/>
          </a:p>
        </p:txBody>
      </p:sp>
      <p:sp>
        <p:nvSpPr>
          <p:cNvPr id="51" name="Code block"/>
          <p:cNvSpPr/>
          <p:nvPr/>
        </p:nvSpPr>
        <p:spPr>
          <a:xfrm>
            <a:off x="548640" y="5212080"/>
            <a:ext cx="11064240" cy="9144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2" name="Code text"/>
          <p:cNvSpPr txBox="1"/>
          <p:nvPr/>
        </p:nvSpPr>
        <p:spPr>
          <a:xfrm>
            <a:off x="731520" y="53492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  { "ok": true,  "data": ..., "meta": { "page": 1, "total": 120 }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failure  { "ok": false, "error": { "code": "VALIDATION", "message": "...", "request_id": "..." } }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3 · LEARN THE CODE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Database conventions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56692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Primary keys: VARCHAR(36) UUIDs from newId().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Every table has org_id; foreign keys are composite (id, org_id).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DATETIME(3) in UTC. They arrive as ISO strings: do not call .toISOString().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Soft delete with deleted_at; history rows are never removed.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Placeholders are $1, $2 ... in the order you pass values.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Dynamic filters: Params builder, .add(value) and .in(list).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Several writes that must succeed together: tx(async (db) =&gt; ...).</a:t>
            </a:r>
            <a:endParaRPr lang="en-US" sz="1700" dirty="0"/>
          </a:p>
        </p:txBody>
      </p:sp>
      <p:sp>
        <p:nvSpPr>
          <p:cNvPr id="6" name="Code block"/>
          <p:cNvSpPr/>
          <p:nvPr/>
        </p:nvSpPr>
        <p:spPr>
          <a:xfrm>
            <a:off x="6492240" y="1600200"/>
            <a:ext cx="5120640" cy="3840480"/>
          </a:xfrm>
          <a:prstGeom prst="roundRect">
            <a:avLst>
              <a:gd name="adj" fmla="val 1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ode text"/>
          <p:cNvSpPr txBox="1"/>
          <p:nvPr/>
        </p:nvSpPr>
        <p:spPr>
          <a:xfrm>
            <a:off x="6675120" y="173736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 = new Params();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where = [`l.org_id = ${p.add(orgId)}`,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'l.deleted_at IS NULL'];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(status) where.push(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`l.status = ${p.add(status)}`);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(ids.length) where.push(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`l.id IN ${p.in(ids)}`);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rows = await query(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`SELECT l.id, l.full_name FROM learners 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${where.join(' AND ')}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ORDER BY l.full_name LIMIT 25`,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p.values);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3 · LEARN THE CODE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Organization and scope: who sees what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6949440" cy="749808"/>
          </a:xfrm>
          <a:prstGeom prst="roundRect">
            <a:avLst>
              <a:gd name="adj" fmla="val 9756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36776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Platform owner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8424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Picks one organization (X-Org-Id header)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548640" y="2496312"/>
            <a:ext cx="6446520" cy="749808"/>
          </a:xfrm>
          <a:prstGeom prst="roundRect">
            <a:avLst>
              <a:gd name="adj" fmla="val 9756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532888"/>
            <a:ext cx="5989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Org admin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880360"/>
            <a:ext cx="5989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Whole organization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548640" y="3392424"/>
            <a:ext cx="5943600" cy="749808"/>
          </a:xfrm>
          <a:prstGeom prst="roundRect">
            <a:avLst>
              <a:gd name="adj" fmla="val 9756"/>
            </a:avLst>
          </a:prstGeom>
          <a:solidFill>
            <a:schemeClr val="accent4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Branch admin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7764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Own branch(es) only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4288536"/>
            <a:ext cx="5440680" cy="749808"/>
          </a:xfrm>
          <a:prstGeom prst="roundRect">
            <a:avLst>
              <a:gd name="adj" fmla="val 9756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432511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Teacher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672584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Only assigned batches</a:t>
            </a:r>
            <a:endParaRPr lang="en-US" sz="1400" dirty="0"/>
          </a:p>
        </p:txBody>
      </p:sp>
      <p:sp>
        <p:nvSpPr>
          <p:cNvPr id="17" name="Card"/>
          <p:cNvSpPr/>
          <p:nvPr/>
        </p:nvSpPr>
        <p:spPr>
          <a:xfrm>
            <a:off x="548640" y="5184648"/>
            <a:ext cx="4937760" cy="749808"/>
          </a:xfrm>
          <a:prstGeom prst="roundRect">
            <a:avLst>
              <a:gd name="adj" fmla="val 9756"/>
            </a:avLst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212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Learner / parent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556869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Only themselves / their children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Helpers you must use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210312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orgIdOf(req): the organization, never from the body.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learnerScope(): SQL filter for learners the caller may see.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batchScope(): same for batches.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openRoom(): gate for classroom routes (404 when out of scope).</a:t>
            </a:r>
            <a:endParaRPr lang="en-US" sz="1500" dirty="0"/>
          </a:p>
        </p:txBody>
      </p:sp>
      <p:sp>
        <p:nvSpPr>
          <p:cNvPr id="22" name="Card"/>
          <p:cNvSpPr/>
          <p:nvPr/>
        </p:nvSpPr>
        <p:spPr>
          <a:xfrm>
            <a:off x="8138160" y="502920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75320" y="5120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Cross-org data leak = the worst bug we can ship.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3 · LEARN THE CODE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Sign-in and sessions</a:t>
            </a:r>
            <a:endParaRPr lang="en-US" sz="3400" dirty="0"/>
          </a:p>
        </p:txBody>
      </p:sp>
      <p:sp>
        <p:nvSpPr>
          <p:cNvPr id="5" name="Step 1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554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Login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15544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POST /api/auth/login returns an access JWT (15 min) and sets a refresh cookie (7 days).</a:t>
            </a:r>
            <a:endParaRPr lang="en-US" sz="1600" dirty="0"/>
          </a:p>
        </p:txBody>
      </p:sp>
      <p:sp>
        <p:nvSpPr>
          <p:cNvPr id="9" name="Step 2"/>
          <p:cNvSpPr/>
          <p:nvPr/>
        </p:nvSpPr>
        <p:spPr>
          <a:xfrm>
            <a:off x="548640" y="245059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5915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Every request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474720" y="2359152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JWT is verified AND its session row in auth_sessions must still be live.</a:t>
            </a:r>
            <a:endParaRPr lang="en-US" sz="1600" dirty="0"/>
          </a:p>
        </p:txBody>
      </p:sp>
      <p:sp>
        <p:nvSpPr>
          <p:cNvPr id="13" name="Step 3"/>
          <p:cNvSpPr/>
          <p:nvPr/>
        </p:nvSpPr>
        <p:spPr>
          <a:xfrm>
            <a:off x="548640" y="325526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6382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Refresh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3163824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POST /api/auth/refresh swaps the refresh token for a new one. Each token works once.</a:t>
            </a:r>
            <a:endParaRPr lang="en-US" sz="1600" dirty="0"/>
          </a:p>
        </p:txBody>
      </p:sp>
      <p:sp>
        <p:nvSpPr>
          <p:cNvPr id="17" name="Step 4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3968496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Cookies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474720" y="396849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HttpOnly, SameSite=Lax, Secure in production. Writes also need the CSRF header.</a:t>
            </a:r>
            <a:endParaRPr lang="en-US" sz="1600" dirty="0"/>
          </a:p>
        </p:txBody>
      </p:sp>
      <p:sp>
        <p:nvSpPr>
          <p:cNvPr id="21" name="Step 5"/>
          <p:cNvSpPr/>
          <p:nvPr/>
        </p:nvSpPr>
        <p:spPr>
          <a:xfrm>
            <a:off x="548640" y="48646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864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47731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Protection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474720" y="47731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Lockout after 8 bad passwords; same message whether the account exists or not.</a:t>
            </a:r>
            <a:endParaRPr lang="en-US" sz="1600" dirty="0"/>
          </a:p>
        </p:txBody>
      </p:sp>
      <p:sp>
        <p:nvSpPr>
          <p:cNvPr id="25" name="Card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57150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Tools using a Bearer token (Postman, scripts) skip CSRF; browsers use cookies + CSRF.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3 · LEARN THE CODE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Roles and permissions (RBAC)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54864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 permission is a code such as learner:read or tag:manage.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Roles group permissions: org_admin, branch_admin, teacher, counsellor, accountant, learner, parent.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Tables: permissions, roles, role_permissions, user_roles.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API: requirePerm('code') on every route.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UI: &lt;Guard perm="code"&gt; and the nav item perm field.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 test scans all routes and fails if one has no permission.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600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Adding a permission = a migration</a:t>
            </a:r>
            <a:endParaRPr lang="en-US" sz="1800" dirty="0"/>
          </a:p>
        </p:txBody>
      </p:sp>
      <p:sp>
        <p:nvSpPr>
          <p:cNvPr id="7" name="Code block"/>
          <p:cNvSpPr/>
          <p:nvPr/>
        </p:nvSpPr>
        <p:spPr>
          <a:xfrm>
            <a:off x="6400800" y="2103120"/>
            <a:ext cx="5212080" cy="3108960"/>
          </a:xfrm>
          <a:prstGeom prst="roundRect">
            <a:avLst>
              <a:gd name="adj" fmla="val 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ode text"/>
          <p:cNvSpPr txBox="1"/>
          <p:nvPr/>
        </p:nvSpPr>
        <p:spPr>
          <a:xfrm>
            <a:off x="6583680" y="224028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permissions (id, code, description)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 (UUID(), 'system:read',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'View the System status page');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role_permissions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(role_id, permission_id)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r.id, p.id FROM roles 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permissions p ON p.code = 'system:read'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 r.code IN ('super_admin','org_admin');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53492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From server/migrations/009_system.sql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3 · LEARN THE CODE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Selection and bulk actions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4688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tep 1"/>
          <p:cNvSpPr/>
          <p:nvPr/>
        </p:nvSpPr>
        <p:spPr>
          <a:xfrm>
            <a:off x="731520" y="18288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Select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Pick batches or filters</a:t>
            </a:r>
            <a:endParaRPr lang="en-US" sz="1500" dirty="0"/>
          </a:p>
        </p:txBody>
      </p:sp>
      <p:sp>
        <p:nvSpPr>
          <p:cNvPr id="10" name="Arrow"/>
          <p:cNvSpPr/>
          <p:nvPr/>
        </p:nvSpPr>
        <p:spPr>
          <a:xfrm>
            <a:off x="3017520" y="2423160"/>
            <a:ext cx="3657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1" name="Card"/>
          <p:cNvSpPr/>
          <p:nvPr/>
        </p:nvSpPr>
        <p:spPr>
          <a:xfrm>
            <a:off x="3383280" y="1645920"/>
            <a:ext cx="24688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tep 2"/>
          <p:cNvSpPr/>
          <p:nvPr/>
        </p:nvSpPr>
        <p:spPr>
          <a:xfrm>
            <a:off x="3566160" y="18288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6616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1480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Resolve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Unique learners by learner_id in SQL</a:t>
            </a:r>
            <a:endParaRPr lang="en-US" sz="1500" dirty="0"/>
          </a:p>
        </p:txBody>
      </p:sp>
      <p:sp>
        <p:nvSpPr>
          <p:cNvPr id="16" name="Arrow"/>
          <p:cNvSpPr/>
          <p:nvPr/>
        </p:nvSpPr>
        <p:spPr>
          <a:xfrm>
            <a:off x="5852160" y="2423160"/>
            <a:ext cx="3657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7" name="Card"/>
          <p:cNvSpPr/>
          <p:nvPr/>
        </p:nvSpPr>
        <p:spPr>
          <a:xfrm>
            <a:off x="6217920" y="1645920"/>
            <a:ext cx="24688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tep 3"/>
          <p:cNvSpPr/>
          <p:nvPr/>
        </p:nvSpPr>
        <p:spPr>
          <a:xfrm>
            <a:off x="6400800" y="18288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Dry run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Preview counts, change nothing</a:t>
            </a:r>
            <a:endParaRPr lang="en-US" sz="1500" dirty="0"/>
          </a:p>
        </p:txBody>
      </p:sp>
      <p:sp>
        <p:nvSpPr>
          <p:cNvPr id="22" name="Arrow"/>
          <p:cNvSpPr/>
          <p:nvPr/>
        </p:nvSpPr>
        <p:spPr>
          <a:xfrm>
            <a:off x="8686800" y="2423160"/>
            <a:ext cx="3657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Card"/>
          <p:cNvSpPr/>
          <p:nvPr/>
        </p:nvSpPr>
        <p:spPr>
          <a:xfrm>
            <a:off x="9052560" y="1645920"/>
            <a:ext cx="24688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tep 4"/>
          <p:cNvSpPr/>
          <p:nvPr/>
        </p:nvSpPr>
        <p:spPr>
          <a:xfrm>
            <a:off x="9235440" y="18288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3544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978408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Confirm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923544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Explicit confirm, audit logged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548640" y="3566160"/>
            <a:ext cx="5486400" cy="2468880"/>
          </a:xfrm>
          <a:prstGeom prst="roundRect">
            <a:avLst>
              <a:gd name="adj" fmla="val 2963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77240" y="3703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Example: three batches selected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777240" y="41605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batches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memberships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 unique learners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 duplicate removed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566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Endpoints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400800" y="402336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POST /api/selection/resolve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POST /api/bulk/learners (dry_run, then confirm)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POST /api/bulk/learners/export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53035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Rule: count people with COUNT(DISTINCT learner_id), never memberships.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4 · BUILD A FEATURE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Add a feature in eight steps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tep 1"/>
          <p:cNvSpPr/>
          <p:nvPr/>
        </p:nvSpPr>
        <p:spPr>
          <a:xfrm>
            <a:off x="73152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67335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Write a numbered migration (new table with org_id)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6172200" y="1600200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tep 2"/>
          <p:cNvSpPr/>
          <p:nvPr/>
        </p:nvSpPr>
        <p:spPr>
          <a:xfrm>
            <a:off x="635508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67335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Add permission rows and grant them to roles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548640" y="2697480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tep 3"/>
          <p:cNvSpPr/>
          <p:nvPr/>
        </p:nvSpPr>
        <p:spPr>
          <a:xfrm>
            <a:off x="731520" y="2926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277063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Create modules/&lt;feature&gt;/routes.ts</a:t>
            </a:r>
            <a:endParaRPr lang="en-US" sz="1600" dirty="0"/>
          </a:p>
        </p:txBody>
      </p:sp>
      <p:sp>
        <p:nvSpPr>
          <p:cNvPr id="17" name="Card"/>
          <p:cNvSpPr/>
          <p:nvPr/>
        </p:nvSpPr>
        <p:spPr>
          <a:xfrm>
            <a:off x="6172200" y="2697480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tep 4"/>
          <p:cNvSpPr/>
          <p:nvPr/>
        </p:nvSpPr>
        <p:spPr>
          <a:xfrm>
            <a:off x="6355080" y="2926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5508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277063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Validate input with a zod schema and parse()</a:t>
            </a:r>
            <a:endParaRPr lang="en-US" sz="1600" dirty="0"/>
          </a:p>
        </p:txBody>
      </p:sp>
      <p:sp>
        <p:nvSpPr>
          <p:cNvPr id="21" name="Card"/>
          <p:cNvSpPr/>
          <p:nvPr/>
        </p:nvSpPr>
        <p:spPr>
          <a:xfrm>
            <a:off x="548640" y="3794760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tep 5"/>
          <p:cNvSpPr/>
          <p:nvPr/>
        </p:nvSpPr>
        <p:spPr>
          <a:xfrm>
            <a:off x="731520" y="402336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463040" y="386791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Write SQL with placeholders; scope by org and role</a:t>
            </a:r>
            <a:endParaRPr lang="en-US" sz="1600" dirty="0"/>
          </a:p>
        </p:txBody>
      </p:sp>
      <p:sp>
        <p:nvSpPr>
          <p:cNvPr id="25" name="Card"/>
          <p:cNvSpPr/>
          <p:nvPr/>
        </p:nvSpPr>
        <p:spPr>
          <a:xfrm>
            <a:off x="6172200" y="3794760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tep 6"/>
          <p:cNvSpPr/>
          <p:nvPr/>
        </p:nvSpPr>
        <p:spPr>
          <a:xfrm>
            <a:off x="6355080" y="402336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5508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086600" y="386791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Call audit() for every write</a:t>
            </a:r>
            <a:endParaRPr lang="en-US" sz="1600" dirty="0"/>
          </a:p>
        </p:txBody>
      </p:sp>
      <p:sp>
        <p:nvSpPr>
          <p:cNvPr id="29" name="Card"/>
          <p:cNvSpPr/>
          <p:nvPr/>
        </p:nvSpPr>
        <p:spPr>
          <a:xfrm>
            <a:off x="548640" y="4892040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tep 7"/>
          <p:cNvSpPr/>
          <p:nvPr/>
        </p:nvSpPr>
        <p:spPr>
          <a:xfrm>
            <a:off x="731520" y="51206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1520" y="5120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7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1463040" y="496519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Mount the router in app.ts AFTER authenticate</a:t>
            </a:r>
            <a:endParaRPr lang="en-US" sz="1600" dirty="0"/>
          </a:p>
        </p:txBody>
      </p:sp>
      <p:sp>
        <p:nvSpPr>
          <p:cNvPr id="33" name="Card"/>
          <p:cNvSpPr/>
          <p:nvPr/>
        </p:nvSpPr>
        <p:spPr>
          <a:xfrm>
            <a:off x="6172200" y="4892040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tep 8"/>
          <p:cNvSpPr/>
          <p:nvPr/>
        </p:nvSpPr>
        <p:spPr>
          <a:xfrm>
            <a:off x="6355080" y="51206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355080" y="5120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7086600" y="496519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Add tests, then the page in web/src/pages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4 · BUILD A FEATURE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Anatomy of a route</a:t>
            </a:r>
            <a:endParaRPr lang="en-US" sz="3400" dirty="0"/>
          </a:p>
        </p:txBody>
      </p:sp>
      <p:sp>
        <p:nvSpPr>
          <p:cNvPr id="5" name="Code block"/>
          <p:cNvSpPr/>
          <p:nvPr/>
        </p:nvSpPr>
        <p:spPr>
          <a:xfrm>
            <a:off x="548640" y="1600200"/>
            <a:ext cx="6949440" cy="4480560"/>
          </a:xfrm>
          <a:prstGeom prst="roundRect">
            <a:avLst>
              <a:gd name="adj" fmla="val 122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ode text"/>
          <p:cNvSpPr txBox="1"/>
          <p:nvPr/>
        </p:nvSpPr>
        <p:spPr>
          <a:xfrm>
            <a:off x="731520" y="173736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router.post('/', requirePerm('tag:manage'), wrap(async (req, res) =&gt;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b = parse(tagBody, req.body);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newId();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exec(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`INSERT INTO tags (id, org_id, name, created_by)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VALUES ($1,$2,$3,$4)`,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[id, orgIdOf(req), b.name, req.user!.id]);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audit({ orgId: orgIdOf(req), actor: req.user,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action: 'tag.created', entityType: 'tag',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entityId: id, next: b, req });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ok(res, { id }, undefined, 201);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}));</a:t>
            </a:r>
            <a:endParaRPr lang="en-US" sz="1500" dirty="0"/>
          </a:p>
        </p:txBody>
      </p:sp>
      <p:sp>
        <p:nvSpPr>
          <p:cNvPr id="7" name="Step 1"/>
          <p:cNvSpPr/>
          <p:nvPr/>
        </p:nvSpPr>
        <p:spPr>
          <a:xfrm>
            <a:off x="7772400" y="16916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Permission first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19659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requirePerm runs before any code</a:t>
            </a:r>
            <a:endParaRPr lang="en-US" sz="1400" dirty="0"/>
          </a:p>
        </p:txBody>
      </p:sp>
      <p:sp>
        <p:nvSpPr>
          <p:cNvPr id="11" name="Step 2"/>
          <p:cNvSpPr/>
          <p:nvPr/>
        </p:nvSpPr>
        <p:spPr>
          <a:xfrm>
            <a:off x="7772400" y="26060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Validate input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parse() returns 400 with field errors</a:t>
            </a:r>
            <a:endParaRPr lang="en-US" sz="1400" dirty="0"/>
          </a:p>
        </p:txBody>
      </p:sp>
      <p:sp>
        <p:nvSpPr>
          <p:cNvPr id="15" name="Step 3"/>
          <p:cNvSpPr/>
          <p:nvPr/>
        </p:nvSpPr>
        <p:spPr>
          <a:xfrm>
            <a:off x="7772400" y="35204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1248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Org from request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412480" y="3794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orgIdOf(req), never the body</a:t>
            </a:r>
            <a:endParaRPr lang="en-US" sz="1400" dirty="0"/>
          </a:p>
        </p:txBody>
      </p:sp>
      <p:sp>
        <p:nvSpPr>
          <p:cNvPr id="19" name="Step 4"/>
          <p:cNvSpPr/>
          <p:nvPr/>
        </p:nvSpPr>
        <p:spPr>
          <a:xfrm>
            <a:off x="7772400" y="44348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1248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Audit the write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4709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who, what, before and after</a:t>
            </a:r>
            <a:endParaRPr lang="en-US" sz="1400" dirty="0"/>
          </a:p>
        </p:txBody>
      </p:sp>
      <p:sp>
        <p:nvSpPr>
          <p:cNvPr id="23" name="Step 5"/>
          <p:cNvSpPr/>
          <p:nvPr/>
        </p:nvSpPr>
        <p:spPr>
          <a:xfrm>
            <a:off x="7772400" y="53492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72400" y="5349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12480" y="5257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Standard envelope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5623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ok() and 201 for creates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4 · BUILD A FEATURE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Front-end patterns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5760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api.get / api.post (api.ts) handle tokens, CSRF and the org header.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useFetch + &lt;Async&gt; give loading, error with retry, and empty states.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Shared pieces in components/ui.tsx: PageHead, Stat, Badge, Pager, Modal, useToast.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Routes live in App.tsx; guard with &lt;Guard perm="..."&gt;.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Menu items live in components/Layout.tsx with a perm field.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Show friendly(e) for errors; offer a way to retry.</a:t>
            </a:r>
            <a:endParaRPr lang="en-US" sz="17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Check it on a phone-width screen too.</a:t>
            </a:r>
            <a:endParaRPr lang="en-US" sz="1700" dirty="0"/>
          </a:p>
        </p:txBody>
      </p:sp>
      <p:sp>
        <p:nvSpPr>
          <p:cNvPr id="6" name="Code block"/>
          <p:cNvSpPr/>
          <p:nvPr/>
        </p:nvSpPr>
        <p:spPr>
          <a:xfrm>
            <a:off x="6583680" y="1600200"/>
            <a:ext cx="5029200" cy="4023360"/>
          </a:xfrm>
          <a:prstGeom prst="roundRect">
            <a:avLst>
              <a:gd name="adj" fmla="val 13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ode text"/>
          <p:cNvSpPr txBox="1"/>
          <p:nvPr/>
        </p:nvSpPr>
        <p:spPr>
          <a:xfrm>
            <a:off x="6766560" y="173736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Audit()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[page, setPage] = useState(1);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 = useFetch(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=&gt; api.get(`/api/audit${qs({ page })}`),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[page]);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&lt;PageHead title="Audit log" /&gt;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&lt;Async q={q}&gt;{(r) =&gt;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&lt;Table rows={r.data} /&gt;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)}&lt;/Async&gt;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5760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Pattern from web/src/pages/Audit.tsx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5 · CHECK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Testing: prove it works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1089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158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server tests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548640" y="2971800"/>
            <a:ext cx="31089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30632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749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test files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548640" y="4343400"/>
            <a:ext cx="31089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31520" y="4434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137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120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Postman requests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1600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 every endpoint test at least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2103120"/>
            <a:ext cx="7589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Happy path with the right role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Wrong role: 403 (or 404 when it should hide existence)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Another organization cannot see or change it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Invalid input: 400 with field messages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Repeating the call: duplicates and idempotency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The audit log entry exists</a:t>
            </a:r>
            <a:endParaRPr lang="en-US" sz="1600" dirty="0"/>
          </a:p>
        </p:txBody>
      </p:sp>
      <p:sp>
        <p:nvSpPr>
          <p:cNvPr id="16" name="Code block"/>
          <p:cNvSpPr/>
          <p:nvPr/>
        </p:nvSpPr>
        <p:spPr>
          <a:xfrm>
            <a:off x="4023360" y="4800600"/>
            <a:ext cx="7589520" cy="132588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Code text"/>
          <p:cNvSpPr txBox="1"/>
          <p:nvPr/>
        </p:nvSpPr>
        <p:spPr>
          <a:xfrm>
            <a:off x="4206240" y="4937760"/>
            <a:ext cx="7223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                 # server suite (database name must end in _test)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typecheck         # server + web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newman run postman/robokalam-learner-os.postman_collection.json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-e postman/robokalam-learner-os.postman_environment.json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5 · CHECK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Debugging and observability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Request id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860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Every response has X-Request-Id; errors include request_id. Search the log for it.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6002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52628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Structured logs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2860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JSON (pino). Slow requests (&gt;2 s) and slow queries (&gt;1.5 s) are warnings. No bodies or tokens are logged.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16002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27532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Health checks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2860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/api/health (alive) and /api/health/ready (database + migrations).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38862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4069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System Status page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5720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Settings → System Status: latency, slowest routes, queues, 8 integrity checks that must be zero.</a:t>
            </a:r>
            <a:endParaRPr lang="en-US" sz="1400" dirty="0"/>
          </a:p>
        </p:txBody>
      </p:sp>
      <p:sp>
        <p:nvSpPr>
          <p:cNvPr id="17" name="Card"/>
          <p:cNvSpPr/>
          <p:nvPr/>
        </p:nvSpPr>
        <p:spPr>
          <a:xfrm>
            <a:off x="4297680" y="38862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26280" y="4069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Audit log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526280" y="45720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Settings → Audit log shows who changed what, with before and after.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8046720" y="38862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75320" y="4069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Postman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275320" y="45720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Reproduce with the same call outside the UI.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5 · CHECK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Security checklist for every pull request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440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Checkbox"/>
          <p:cNvSpPr/>
          <p:nvPr/>
        </p:nvSpPr>
        <p:spPr>
          <a:xfrm>
            <a:off x="777240" y="1847088"/>
            <a:ext cx="420624" cy="420624"/>
          </a:xfrm>
          <a:prstGeom prst="roundRect">
            <a:avLst>
              <a:gd name="adj" fmla="val 1739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673352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requirePerm on every new route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6172200" y="1600200"/>
            <a:ext cx="5440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Checkbox"/>
          <p:cNvSpPr/>
          <p:nvPr/>
        </p:nvSpPr>
        <p:spPr>
          <a:xfrm>
            <a:off x="6400800" y="1847088"/>
            <a:ext cx="420624" cy="420624"/>
          </a:xfrm>
          <a:prstGeom prst="roundRect">
            <a:avLst>
              <a:gd name="adj" fmla="val 1739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673352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Organization taken from the request, not the body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548640" y="2697480"/>
            <a:ext cx="5440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Checkbox"/>
          <p:cNvSpPr/>
          <p:nvPr/>
        </p:nvSpPr>
        <p:spPr>
          <a:xfrm>
            <a:off x="777240" y="2944368"/>
            <a:ext cx="420624" cy="420624"/>
          </a:xfrm>
          <a:prstGeom prst="roundRect">
            <a:avLst>
              <a:gd name="adj" fmla="val 1739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944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2770632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SQL parameterized; sort columns from a whitelist</a:t>
            </a:r>
            <a:endParaRPr lang="en-US" sz="1600" dirty="0"/>
          </a:p>
        </p:txBody>
      </p:sp>
      <p:sp>
        <p:nvSpPr>
          <p:cNvPr id="17" name="Card"/>
          <p:cNvSpPr/>
          <p:nvPr/>
        </p:nvSpPr>
        <p:spPr>
          <a:xfrm>
            <a:off x="6172200" y="2697480"/>
            <a:ext cx="5440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Checkbox"/>
          <p:cNvSpPr/>
          <p:nvPr/>
        </p:nvSpPr>
        <p:spPr>
          <a:xfrm>
            <a:off x="6400800" y="2944368"/>
            <a:ext cx="420624" cy="420624"/>
          </a:xfrm>
          <a:prstGeom prst="roundRect">
            <a:avLst>
              <a:gd name="adj" fmla="val 1739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0" y="2944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2770632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zod schema strips unknown fields (no mass assignment)</a:t>
            </a:r>
            <a:endParaRPr lang="en-US" sz="1600" dirty="0"/>
          </a:p>
        </p:txBody>
      </p:sp>
      <p:sp>
        <p:nvSpPr>
          <p:cNvPr id="21" name="Card"/>
          <p:cNvSpPr/>
          <p:nvPr/>
        </p:nvSpPr>
        <p:spPr>
          <a:xfrm>
            <a:off x="548640" y="3794760"/>
            <a:ext cx="5440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Checkbox"/>
          <p:cNvSpPr/>
          <p:nvPr/>
        </p:nvSpPr>
        <p:spPr>
          <a:xfrm>
            <a:off x="777240" y="4041648"/>
            <a:ext cx="420624" cy="420624"/>
          </a:xfrm>
          <a:prstGeom prst="roundRect">
            <a:avLst>
              <a:gd name="adj" fmla="val 1739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3867912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Out-of-scope records return 404</a:t>
            </a:r>
            <a:endParaRPr lang="en-US" sz="1600" dirty="0"/>
          </a:p>
        </p:txBody>
      </p:sp>
      <p:sp>
        <p:nvSpPr>
          <p:cNvPr id="25" name="Card"/>
          <p:cNvSpPr/>
          <p:nvPr/>
        </p:nvSpPr>
        <p:spPr>
          <a:xfrm>
            <a:off x="6172200" y="3794760"/>
            <a:ext cx="5440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Checkbox"/>
          <p:cNvSpPr/>
          <p:nvPr/>
        </p:nvSpPr>
        <p:spPr>
          <a:xfrm>
            <a:off x="6400800" y="4041648"/>
            <a:ext cx="420624" cy="420624"/>
          </a:xfrm>
          <a:prstGeom prst="roundRect">
            <a:avLst>
              <a:gd name="adj" fmla="val 1739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00800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3867912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Every write calls audit()</a:t>
            </a:r>
            <a:endParaRPr lang="en-US" sz="1600" dirty="0"/>
          </a:p>
        </p:txBody>
      </p:sp>
      <p:sp>
        <p:nvSpPr>
          <p:cNvPr id="29" name="Card"/>
          <p:cNvSpPr/>
          <p:nvPr/>
        </p:nvSpPr>
        <p:spPr>
          <a:xfrm>
            <a:off x="548640" y="4892040"/>
            <a:ext cx="5440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Checkbox"/>
          <p:cNvSpPr/>
          <p:nvPr/>
        </p:nvSpPr>
        <p:spPr>
          <a:xfrm>
            <a:off x="777240" y="5138928"/>
            <a:ext cx="420624" cy="420624"/>
          </a:xfrm>
          <a:prstGeom prst="roundRect">
            <a:avLst>
              <a:gd name="adj" fmla="val 1739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7240" y="5138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✓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1417320" y="4965192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No secrets or personal data in code, logs or responses</a:t>
            </a:r>
            <a:endParaRPr lang="en-US" sz="1600" dirty="0"/>
          </a:p>
        </p:txBody>
      </p:sp>
      <p:sp>
        <p:nvSpPr>
          <p:cNvPr id="33" name="Card"/>
          <p:cNvSpPr/>
          <p:nvPr/>
        </p:nvSpPr>
        <p:spPr>
          <a:xfrm>
            <a:off x="6172200" y="4892040"/>
            <a:ext cx="5440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Checkbox"/>
          <p:cNvSpPr/>
          <p:nvPr/>
        </p:nvSpPr>
        <p:spPr>
          <a:xfrm>
            <a:off x="6400800" y="5138928"/>
            <a:ext cx="420624" cy="420624"/>
          </a:xfrm>
          <a:prstGeom prst="roundRect">
            <a:avLst>
              <a:gd name="adj" fmla="val 1739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00800" y="5138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7040880" y="4965192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Expensive or bulk endpoints are rate limited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5 · CHECK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Performance: measure, then fix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6616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0.2 s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learner list page (100k learners)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600200"/>
            <a:ext cx="356616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0.6 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unique learners over 1,000+ batches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1600200"/>
            <a:ext cx="356616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0.14 s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attendance report, was 15.9 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Checklist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Filter and paginate on the server; never send all learners to the browser.</a:t>
            </a:r>
            <a:endParaRPr lang="en-US" sz="16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Aggregate in SQL, not in JavaScript loops.</a:t>
            </a:r>
            <a:endParaRPr lang="en-US" sz="16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Index every column you filter or join on; check with EXPLAIN.</a:t>
            </a:r>
            <a:endParaRPr lang="en-US" sz="16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Use covering indexes for big reports (migration 010 is an example).</a:t>
            </a:r>
            <a:endParaRPr lang="en-US" sz="16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Seed big data (seed:large, seed:perf) and time it with dev/perf-check.ts.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6 · SHIP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Git and pull request workflow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468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tep 1"/>
          <p:cNvSpPr/>
          <p:nvPr/>
        </p:nvSpPr>
        <p:spPr>
          <a:xfrm>
            <a:off x="731520" y="18288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Branch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423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git checkout -b feature/short-name from main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3383280" y="1645920"/>
            <a:ext cx="2468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tep 2"/>
          <p:cNvSpPr/>
          <p:nvPr/>
        </p:nvSpPr>
        <p:spPr>
          <a:xfrm>
            <a:off x="3566160" y="18288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6616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Commit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423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Small commits with clear messages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1645920"/>
            <a:ext cx="2468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tep 3"/>
          <p:cNvSpPr/>
          <p:nvPr/>
        </p:nvSpPr>
        <p:spPr>
          <a:xfrm>
            <a:off x="6400800" y="18288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Check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423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npm test and npm run typecheck pass locally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9052560" y="1645920"/>
            <a:ext cx="2468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tep 4"/>
          <p:cNvSpPr/>
          <p:nvPr/>
        </p:nvSpPr>
        <p:spPr>
          <a:xfrm>
            <a:off x="9235440" y="18288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23544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78408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Push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235440" y="2423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git push -u origin your-branch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548640" y="3657600"/>
            <a:ext cx="2468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tep 5"/>
          <p:cNvSpPr/>
          <p:nvPr/>
        </p:nvSpPr>
        <p:spPr>
          <a:xfrm>
            <a:off x="731520" y="384048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840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Open PR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434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Say what changed, why, how you tested</a:t>
            </a:r>
            <a:endParaRPr lang="en-US" sz="1400" dirty="0"/>
          </a:p>
        </p:txBody>
      </p:sp>
      <p:sp>
        <p:nvSpPr>
          <p:cNvPr id="30" name="Card"/>
          <p:cNvSpPr/>
          <p:nvPr/>
        </p:nvSpPr>
        <p:spPr>
          <a:xfrm>
            <a:off x="3383280" y="3657600"/>
            <a:ext cx="2468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tep 6"/>
          <p:cNvSpPr/>
          <p:nvPr/>
        </p:nvSpPr>
        <p:spPr>
          <a:xfrm>
            <a:off x="3566160" y="384048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6616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14800" y="3840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Review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566160" y="4434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Answer comments; push fixes</a:t>
            </a:r>
            <a:endParaRPr lang="en-US" sz="1400" dirty="0"/>
          </a:p>
        </p:txBody>
      </p:sp>
      <p:sp>
        <p:nvSpPr>
          <p:cNvPr id="35" name="Card"/>
          <p:cNvSpPr/>
          <p:nvPr/>
        </p:nvSpPr>
        <p:spPr>
          <a:xfrm>
            <a:off x="6217920" y="3657600"/>
            <a:ext cx="2468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tep 7"/>
          <p:cNvSpPr/>
          <p:nvPr/>
        </p:nvSpPr>
        <p:spPr>
          <a:xfrm>
            <a:off x="6400800" y="384048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0080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7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3840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Merge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6400800" y="4434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Hostinger redeploys main automatically</a:t>
            </a:r>
            <a:endParaRPr lang="en-US" sz="1400" dirty="0"/>
          </a:p>
        </p:txBody>
      </p:sp>
      <p:sp>
        <p:nvSpPr>
          <p:cNvPr id="40" name="Card"/>
          <p:cNvSpPr/>
          <p:nvPr/>
        </p:nvSpPr>
        <p:spPr>
          <a:xfrm>
            <a:off x="9052560" y="3657600"/>
            <a:ext cx="24688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tep 8"/>
          <p:cNvSpPr/>
          <p:nvPr/>
        </p:nvSpPr>
        <p:spPr>
          <a:xfrm>
            <a:off x="9235440" y="384048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23544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8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9784080" y="3840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Verify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9235440" y="4434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Health check + try the feature</a:t>
            </a:r>
            <a:endParaRPr lang="en-US" sz="1400" dirty="0"/>
          </a:p>
        </p:txBody>
      </p:sp>
      <p:sp>
        <p:nvSpPr>
          <p:cNvPr id="45" name="Card"/>
          <p:cNvSpPr/>
          <p:nvPr/>
        </p:nvSpPr>
        <p:spPr>
          <a:xfrm>
            <a:off x="548640" y="5623560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77240" y="56692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Never push passwords, API keys or .env files. If one leaks, rotate it immediately.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6 · SHIP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Deploy and operate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production works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03120"/>
            <a:ext cx="5486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Hostinger Node app deploys main on every merge.</a:t>
            </a:r>
            <a:endParaRPr lang="en-US" sz="18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On start the app runs pending migrations.</a:t>
            </a:r>
            <a:endParaRPr lang="en-US" sz="18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Settings are environment variables, never code.</a:t>
            </a:r>
            <a:endParaRPr lang="en-US" sz="18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Check /api/health/ready and Settings → System Status after each deploy.</a:t>
            </a:r>
            <a:endParaRPr lang="en-US" sz="18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Uptime monitor on /api/health/ready.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600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Backups and restore</a:t>
            </a:r>
            <a:endParaRPr lang="en-US" sz="2000" dirty="0"/>
          </a:p>
        </p:txBody>
      </p:sp>
      <p:sp>
        <p:nvSpPr>
          <p:cNvPr id="8" name="Code block"/>
          <p:cNvSpPr/>
          <p:nvPr/>
        </p:nvSpPr>
        <p:spPr>
          <a:xfrm>
            <a:off x="6400800" y="2103120"/>
            <a:ext cx="5212080" cy="3108960"/>
          </a:xfrm>
          <a:prstGeom prst="roundRect">
            <a:avLst>
              <a:gd name="adj" fmla="val 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Code text"/>
          <p:cNvSpPr txBox="1"/>
          <p:nvPr/>
        </p:nvSpPr>
        <p:spPr>
          <a:xfrm>
            <a:off x="6583680" y="224028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daily, encrypted, keep 14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BACKUP_PASSPHRASE=...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npm run backup:prod -w server --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--out ~/backups --keep 14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restore drill into an EMPTY database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server/dist/scripts/restore.js FILE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check a file without restoring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restore.js FILE --verify-only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534924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 backup you have never restored is not a backup. Drill every quarter.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6 · SHIP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Mistakes we already made (so you do not)</a:t>
            </a:r>
            <a:endParaRPr lang="en-US" sz="3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577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Mistake</a:t>
                      </a:r>
                      <a:endParaRPr lang="en-US" sz="15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 this instead</a:t>
                      </a:r>
                      <a:endParaRPr lang="en-US" sz="15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Calling .toISOString() on a DATETIME column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They are already ISO strings; use them directly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GROUP BY query fails (ONLY_FULL_GROUP_BY)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Group by every non-aggregated selected column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zod 4 literal error text with errorMap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Use z.literal(true, { message: '...' })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New route without requirePerm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The permission-scan test fails; add the permission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Editing a merged migration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Add a new numbered migration instead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Loading rows then filtering in JavaScript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Filter, sort and paginate in SQL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Counting memberships as learners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COUNT(DISTINCT learner_id)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Taking org_id from the request body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orgIdOf(req) only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6 · SHIP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Your first week</a:t>
            </a:r>
            <a:endParaRPr lang="en-US" sz="3400" dirty="0"/>
          </a:p>
        </p:txBody>
      </p:sp>
      <p:sp>
        <p:nvSpPr>
          <p:cNvPr id="5" name="Card"/>
          <p:cNvSpPr/>
          <p:nvPr/>
        </p:nvSpPr>
        <p:spPr>
          <a:xfrm>
            <a:off x="548640" y="1737360"/>
            <a:ext cx="2057400" cy="338328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Day 1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0604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Set up, run tests, log in as each role</a:t>
            </a:r>
            <a:endParaRPr lang="en-US" sz="1800" dirty="0"/>
          </a:p>
        </p:txBody>
      </p:sp>
      <p:sp>
        <p:nvSpPr>
          <p:cNvPr id="8" name="Card"/>
          <p:cNvSpPr/>
          <p:nvPr/>
        </p:nvSpPr>
        <p:spPr>
          <a:xfrm>
            <a:off x="2788920" y="1737360"/>
            <a:ext cx="2057400" cy="338328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7180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Day 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260604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Read ARCHITECTURE.md; trace one request in the code</a:t>
            </a:r>
            <a:endParaRPr lang="en-US" sz="1800" dirty="0"/>
          </a:p>
        </p:txBody>
      </p:sp>
      <p:sp>
        <p:nvSpPr>
          <p:cNvPr id="11" name="Card"/>
          <p:cNvSpPr/>
          <p:nvPr/>
        </p:nvSpPr>
        <p:spPr>
          <a:xfrm>
            <a:off x="5029200" y="1737360"/>
            <a:ext cx="2057400" cy="338328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1208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Day 3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60604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Pick a small issue; write the migration and route</a:t>
            </a:r>
            <a:endParaRPr lang="en-US" sz="1800" dirty="0"/>
          </a:p>
        </p:txBody>
      </p:sp>
      <p:sp>
        <p:nvSpPr>
          <p:cNvPr id="14" name="Card"/>
          <p:cNvSpPr/>
          <p:nvPr/>
        </p:nvSpPr>
        <p:spPr>
          <a:xfrm>
            <a:off x="7269480" y="1737360"/>
            <a:ext cx="2057400" cy="338328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45236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Day 4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260604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Add tests and the page; try it on a phone</a:t>
            </a:r>
            <a:endParaRPr lang="en-US" sz="1800" dirty="0"/>
          </a:p>
        </p:txBody>
      </p:sp>
      <p:sp>
        <p:nvSpPr>
          <p:cNvPr id="17" name="Card"/>
          <p:cNvSpPr/>
          <p:nvPr/>
        </p:nvSpPr>
        <p:spPr>
          <a:xfrm>
            <a:off x="9509760" y="1737360"/>
            <a:ext cx="2057400" cy="338328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69264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Day 5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9692640" y="260604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Open the pull request and respond to review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Goal by Friday: one merged pull request with tests.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PART 6 · SHIP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Where to find answers</a:t>
            </a:r>
            <a:endParaRPr lang="en-US" sz="3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Where</a:t>
                      </a:r>
                      <a:endParaRPr lang="en-US" sz="15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What you find</a:t>
                      </a:r>
                      <a:endParaRPr lang="en-US" sz="15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docs/ARCHITECTURE.md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Design, ERD, API list, permission matrix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docs/PHASE-2 ... PHASE-9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What each phase built and the decisions behind it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docs/DEPLOYMENT.md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Environment variables, backups, rotation, monitoring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docs/SECURITY.md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Security model and limits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docs/RUNBOOK.md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Symptom, check, fix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postman/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Runnable API collection for all phases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Settings → System Status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Live health of a running deployment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+mn-lt"/>
                <a:ea typeface="+mn-lt"/>
                <a:cs typeface="+mn-lt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"/>
          <p:cNvSpPr/>
          <p:nvPr/>
        </p:nvSpPr>
        <p:spPr>
          <a:xfrm>
            <a:off x="8503920" y="822960"/>
            <a:ext cx="4572000" cy="457200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2700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Ask early. Ship small. Test everything.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Every learner is one profile. Every query is scoped. Every number is real.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389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Welcome to the team.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bokalam Dev Guide">
  <a:themeElements>
    <a:clrScheme name="Robokalam Dev Guide">
      <a:dk1>
        <a:srgbClr val="1B2A41"/>
      </a:dk1>
      <a:lt1>
        <a:srgbClr val="FFFFFF"/>
      </a:lt1>
      <a:dk2>
        <a:srgbClr val="0F1B33"/>
      </a:dk2>
      <a:lt2>
        <a:srgbClr val="F3F6FA"/>
      </a:lt2>
      <a:accent1>
        <a:srgbClr val="0E9AA7"/>
      </a:accent1>
      <a:accent2>
        <a:srgbClr val="F2A93B"/>
      </a:accent2>
      <a:accent3>
        <a:srgbClr val="5B6B82"/>
      </a:accent3>
      <a:accent4>
        <a:srgbClr val="3B6FD4"/>
      </a:accent4>
      <a:accent5>
        <a:srgbClr val="D9534F"/>
      </a:accent5>
      <a:accent6>
        <a:srgbClr val="2E9E6B"/>
      </a:accent6>
      <a:hlink>
        <a:srgbClr val="3B6FD4"/>
      </a:hlink>
      <a:folHlink>
        <a:srgbClr val="5B6B82"/>
      </a:folHlink>
    </a:clrScheme>
    <a:fontScheme name="Robokalam Dev Guid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Robokalam Learner OS - Developer Guide</dc:title>
  <dc:subject>Step-by-step guide for junior developers</dc:subject>
  <dc:creator>Robokalam</dc:creator>
  <cp:lastModifiedBy>Robokalam</cp:lastModifiedBy>
  <cp:revision>1</cp:revision>
  <dcterms:created xsi:type="dcterms:W3CDTF">2026-10-04T16:34:59Z</dcterms:created>
  <dcterms:modified xsi:type="dcterms:W3CDTF">2026-10-04T16:34:59Z</dcterms:modified>
</cp:coreProperties>
</file>